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14141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1535</c:v>
                </c:pt>
                <c:pt idx="1">
                  <c:v>1465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ln w="3810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1414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1990s</c:v>
                  </c:pt>
                  <c:pt idx="1">
                    <c:v>2000s</c:v>
                  </c:pt>
                  <c:pt idx="2">
                    <c:v>2010s</c:v>
                  </c:pt>
                  <c:pt idx="3">
                    <c:v>2020s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209</c:v>
                </c:pt>
                <c:pt idx="1">
                  <c:v>1091</c:v>
                </c:pt>
                <c:pt idx="2">
                  <c:v>996</c:v>
                </c:pt>
                <c:pt idx="3">
                  <c:v>704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1414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14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Kids</c:v>
                  </c:pt>
                  <c:pt idx="1">
                    <c:v>Teens</c:v>
                  </c:pt>
                  <c:pt idx="2">
                    <c:v>Adults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878</c:v>
                </c:pt>
                <c:pt idx="1">
                  <c:v>1218</c:v>
                </c:pt>
                <c:pt idx="2">
                  <c:v>904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14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1414"/>
              </a:solidFill>
              <a:effectLst/>
            </c:spPr>
          </c:dPt>
          <c:dPt>
            <c:idx val="1"/>
            <c:bubble3D val="0"/>
            <c:spPr>
              <a:solidFill>
                <a:srgbClr val="E50914"/>
              </a:solidFill>
              <a:effectLst/>
            </c:spPr>
          </c:dPt>
          <c:dPt>
            <c:idx val="2"/>
            <c:bubble3D val="0"/>
            <c:spPr>
              <a:solidFill>
                <a:srgbClr val="6B6B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Kids</c:v>
                </c:pt>
                <c:pt idx="1">
                  <c:v>Teens</c:v>
                </c:pt>
                <c:pt idx="2">
                  <c:v>Adults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878</c:v>
                </c:pt>
                <c:pt idx="1">
                  <c:v>1218</c:v>
                </c:pt>
                <c:pt idx="2">
                  <c:v>904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14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Nigeria</c:v>
                  </c:pt>
                  <c:pt idx="1">
                    <c:v>Thailand</c:v>
                  </c:pt>
                  <c:pt idx="2">
                    <c:v>Japan</c:v>
                  </c:pt>
                  <c:pt idx="3">
                    <c:v>Mexico</c:v>
                  </c:pt>
                  <c:pt idx="4">
                    <c:v>Italy</c:v>
                  </c:pt>
                  <c:pt idx="5">
                    <c:v>Turkey</c:v>
                  </c:pt>
                  <c:pt idx="6">
                    <c:v>Sweden</c:v>
                  </c:pt>
                  <c:pt idx="7">
                    <c:v>France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194</c:v>
                </c:pt>
                <c:pt idx="1">
                  <c:v>176</c:v>
                </c:pt>
                <c:pt idx="2">
                  <c:v>168</c:v>
                </c:pt>
                <c:pt idx="3">
                  <c:v>164</c:v>
                </c:pt>
                <c:pt idx="4">
                  <c:v>160</c:v>
                </c:pt>
                <c:pt idx="5">
                  <c:v>157</c:v>
                </c:pt>
                <c:pt idx="6">
                  <c:v>155</c:v>
                </c:pt>
                <c:pt idx="7">
                  <c:v>152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14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Minutes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14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1990s</c:v>
                  </c:pt>
                  <c:pt idx="1">
                    <c:v>2000s</c:v>
                  </c:pt>
                  <c:pt idx="2">
                    <c:v>2010s</c:v>
                  </c:pt>
                  <c:pt idx="3">
                    <c:v>2020s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124.8</c:v>
                </c:pt>
                <c:pt idx="1">
                  <c:v>123.8</c:v>
                </c:pt>
                <c:pt idx="2">
                  <c:v>126.7</c:v>
                </c:pt>
                <c:pt idx="3">
                  <c:v>124.7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14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Seasons</c:v>
                </c:pt>
              </c:strCache>
            </c:strRef>
          </c:tx>
          <c:spPr>
            <a:solidFill>
              <a:srgbClr val="14141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14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1990s</c:v>
                  </c:pt>
                  <c:pt idx="1">
                    <c:v>2000s</c:v>
                  </c:pt>
                  <c:pt idx="2">
                    <c:v>2010s</c:v>
                  </c:pt>
                  <c:pt idx="3">
                    <c:v>2020s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5.3</c:v>
                </c:pt>
                <c:pt idx="1">
                  <c:v>5.2</c:v>
                </c:pt>
                <c:pt idx="2">
                  <c:v>4.8</c:v>
                </c:pt>
                <c:pt idx="3">
                  <c:v>5.2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414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14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Lucas Silva</c:v>
                  </c:pt>
                  <c:pt idx="1">
                    <c:v>Fatima Haidari</c:v>
                  </c:pt>
                  <c:pt idx="2">
                    <c:v>Liam O'Brien</c:v>
                  </c:pt>
                  <c:pt idx="3">
                    <c:v>Priya Nair</c:v>
                  </c:pt>
                  <c:pt idx="4">
                    <c:v>Yuki Tanaka</c:v>
                  </c:pt>
                  <c:pt idx="5">
                    <c:v>Isabella Rossi</c:v>
                  </c:pt>
                  <c:pt idx="6">
                    <c:v>Mei Lin</c:v>
                  </c:pt>
                  <c:pt idx="7">
                    <c:v>Anna Kowalski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158</c:v>
                </c:pt>
                <c:pt idx="1">
                  <c:v>156</c:v>
                </c:pt>
                <c:pt idx="2">
                  <c:v>156</c:v>
                </c:pt>
                <c:pt idx="3">
                  <c:v>151</c:v>
                </c:pt>
                <c:pt idx="4">
                  <c:v>149</c:v>
                </c:pt>
                <c:pt idx="5">
                  <c:v>148</c:v>
                </c:pt>
                <c:pt idx="6">
                  <c:v>146</c:v>
                </c:pt>
                <c:pt idx="7">
                  <c:v>146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14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4572000" cy="45720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5760720"/>
            <a:ext cx="2743200" cy="2743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CATALOG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Power BI Dashboard Design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• Calculated columns • DAX measures • Chart mapping • Page layout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netflix_catalog_data.xlsx  •  3,000 titles  •  8 columns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dashboard exists and what it needs to answer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4630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78308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mix of the catalog at a glance — Movies vs. TV Shows, audience-rating bands, and top contributing countries.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79192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263347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953512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how the catalog has grown decade over decade, and whether content mix has shifted over time.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49624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380390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patterns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4123944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average movie runtime and average TV season counts to spot format patterns across eras.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20056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497433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294376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gaps — like titles with no director on record — so content-ops can prioritize clean-up.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543800" y="1508760"/>
            <a:ext cx="4160520" cy="4709160"/>
          </a:xfrm>
          <a:prstGeom prst="roundRect">
            <a:avLst>
              <a:gd name="adj" fmla="val 2198"/>
            </a:avLst>
          </a:prstGeom>
          <a:solidFill>
            <a:srgbClr val="141414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0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SNAPSHOT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63840" y="22128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3,000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786384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titles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0" y="3246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1535 / 1465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7863840" y="3776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/ TV Shows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63840" y="42793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7863840" y="48097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represented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63840" y="531266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5.3%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7863840" y="58430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 missing a director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Catalog Analytics — Dashboard Design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Raw Data to 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sequence this deck follows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Columns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ID, Title, Type,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Director, Country,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Year, Rating,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0" y="32004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37560" y="2011680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240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7472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Columns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0440" y="33832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Parse, bucket and flag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fields so DAX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have clean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to aggregate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06440" y="32004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26480" y="2011680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240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6364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9360" y="33832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Volume, composition,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duration, trend and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KPIs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95360" y="32004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15400" y="2011680"/>
            <a:ext cx="2468880" cy="3017520"/>
          </a:xfrm>
          <a:prstGeom prst="roundRect">
            <a:avLst>
              <a:gd name="adj" fmla="val 2963"/>
            </a:avLst>
          </a:prstGeom>
          <a:solidFill>
            <a:srgbClr val="E5091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2240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05256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98280" y="33832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Overview, Ratings &amp;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Audience, Duration,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Directors &amp; Quality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Catalog Analytics — Dashboard Design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Calculated Columns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to the Netflix table before any measure is built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84632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4325112"/>
              </a:tblGrid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Formula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Movie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IF(Type="Movie",TRUE,FALSE)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boolean filter instead of text compares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 Minutes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VALUE(LEFT(Duration,FIND(" ",Duration)-1))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 runtime for Movies (blank for TV)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 Seasons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VALUE(LEFT(Duration,FIND(" ",Duration)-1))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 season count for TV (blank for Movies)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YEAR(TODAY())-[Release Year]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since release, for recency analysis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Decade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TRUNC([Release Year]/10)*10 &amp; "s"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Buckets titles for decade-level trend charts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 Category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SWITCH(TRUE, ... "Kids"/"Teens"/"Adults")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Groups granular ratings into audience bands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 Director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IF(TRIM(Director)="","No","Yes")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Flags data-completeness gaps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 Length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LEN(Title)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Character count, for text-pattern checks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Catalog Analytics — Dashboard Design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DAX Measures — Volume &amp; Composition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big is the catalog, and what is it made of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480560"/>
        </p:xfrm>
        <a:graphic>
          <a:graphicData uri="http://schemas.openxmlformats.org/drawingml/2006/table">
            <a:tbl>
              <a:tblPr/>
              <a:tblGrid>
                <a:gridCol w="2103120"/>
                <a:gridCol w="5029200"/>
                <a:gridCol w="414223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Formula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Titles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COUNTROWS(Netflix)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count for every KPI card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Movies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CALCULATE(COUNTROWS(Netflix), Type="Movie")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 count for the type split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TV Shows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CALCULATE(COUNTROWS(Netflix), Type="TV Show")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TV count for the type split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Movies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DIVIDE([Total Movies],[Total Titles])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 share for the donut chart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TV Shows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DIVIDE([Total TV Shows],[Total Titles])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TV share for the donut chart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Distinct Countries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DISTINCTCOUNT(Country)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Breadth of regional coverage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Distinct Directors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CALCULATE(DISTINCTCOUNT(Director), Director&lt;&gt;"")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Breadth of talent, excluding blanks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Catalog Analytics — Dashboard Design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DAX Measures — Duration, Trend &amp; Quality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patterns, growth over time, and data health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84632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3776472"/>
              </a:tblGrid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Formula (summary)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Movie Duration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AVERAGEX(FILTER(Netflix,Type="Movie"), [Duration Minutes])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movie runtime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Longest / Shortest Movie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CALCULATE(MAX/MIN([Duration Minutes]), Type="Movie")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 range for context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TV Seasons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AVERAGEX(FILTER(Netflix,Type="TV Show"), [Duration Seasons])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show commitment length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Titles Latest 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CALCULATE(COUNTROWS(Netflix), Release Year = MAX(Release Year))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recent year's 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Titles YoY Change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[Total Titles] vs. prior-year [Total Titles]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Year-over-year growth, for the trend 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Country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MAXX(TOPN(1, Country table by count))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leading region, for a KPI card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Mature Content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DIVIDE(titles rated TV-MA/R, [Total Titles])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mature-rated content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Director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DIVIDE(titles with blank Director, [Total Titles])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Data-quality KPI for content-ops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Catalog Analytics — Dashboard Design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Chart Usage Mapping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visual carries which measure, and why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440680" cy="4572000"/>
        </p:xfrm>
        <a:graphic>
          <a:graphicData uri="http://schemas.openxmlformats.org/drawingml/2006/table">
            <a:tbl>
              <a:tblPr/>
              <a:tblGrid>
                <a:gridCol w="1828800"/>
                <a:gridCol w="1417320"/>
                <a:gridCol w="219456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Insight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Titles / Movies / TV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cards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numbers read fastest at a glance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Movies vs. % TV Shows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Donut chart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part-to-whole split, only 2 slices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Titles by Decade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 chart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shape for a trend over time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Titles YoY Change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 w/ line overlay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Bars show volume, line highlights direction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417320"/>
          <a:ext cx="5440680" cy="4572000"/>
        </p:xfrm>
        <a:graphic>
          <a:graphicData uri="http://schemas.openxmlformats.org/drawingml/2006/table">
            <a:tbl>
              <a:tblPr/>
              <a:tblGrid>
                <a:gridCol w="1828800"/>
                <a:gridCol w="1417320"/>
                <a:gridCol w="219456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Insight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 Category by Type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Stacked bar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Compares composition across two dimensions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Countries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Horizontal bar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country names read better on the y-axis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Duration by Decade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 chart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Easy magnitude comparison across buckets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Director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Gauge / KPI card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single completeness score, not a trend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Catalog Analytics — Dashboard Design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Executive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2926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Slicers: Type • Country • Release Year • Rating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Titles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143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1,535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1709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143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1,465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1709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Shows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05156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1143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2012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869680" y="1709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Release Year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3611880" cy="40233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95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vs. TV Show Split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2697480"/>
          <a:ext cx="34290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4160520" y="2286000"/>
            <a:ext cx="76809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43400" y="23957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 Added by Decade</a:t>
            </a:r>
            <a:endParaRPr lang="en-US" sz="12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251960" y="2697480"/>
          <a:ext cx="749808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4160520" y="4343400"/>
            <a:ext cx="7680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343400" y="44531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 by Rating Category</a:t>
            </a:r>
            <a:endParaRPr lang="en-US" sz="1200" dirty="0"/>
          </a:p>
        </p:txBody>
      </p:sp>
      <p:graphicFrame>
        <p:nvGraphicFramePr>
          <p:cNvPr id="26" name="Chart 2" descr=""/>
          <p:cNvGraphicFramePr/>
          <p:nvPr/>
        </p:nvGraphicFramePr>
        <p:xfrm>
          <a:off x="4251960" y="4754880"/>
          <a:ext cx="74980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Catalog Analytics — Dashboard Layout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Ratings &amp; Audience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2926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Slicers: Type • Country • Decade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5257800"/>
          </a:xfrm>
          <a:prstGeom prst="roundRect">
            <a:avLst>
              <a:gd name="adj" fmla="val 2000"/>
            </a:avLst>
          </a:prstGeom>
          <a:solidFill>
            <a:srgbClr val="14141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CONTENT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18.5%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titles rated TV-MA or 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154680"/>
            <a:ext cx="228600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37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COUNTRIES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94360" y="4343400"/>
            <a:ext cx="228600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RELEASE YEAR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800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2012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291840" y="1051560"/>
            <a:ext cx="3931920" cy="525780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Rating Mix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429000" y="1554480"/>
          <a:ext cx="3657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7452360" y="1051560"/>
            <a:ext cx="4389120" cy="52578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Countries by Titles</a:t>
            </a:r>
            <a:endParaRPr lang="en-US" sz="12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7635240" y="1508760"/>
          <a:ext cx="40233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Catalog Analytics — Dashboard Layout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Duration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235440" y="2926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Slicers: Decade • Type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62356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Movie Duration by Decade (min)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508760"/>
          <a:ext cx="534924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72200" y="1051560"/>
            <a:ext cx="566928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188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TV Seasons by Decade</a:t>
            </a:r>
            <a:endParaRPr lang="en-US" sz="11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309360" y="1508760"/>
          <a:ext cx="539496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65760" y="393192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4709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180 min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65760" y="5394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 Movie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0" y="393192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00400" y="4709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70 min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3200400" y="5394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 Movie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393192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35040" y="4709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125.1 min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035040" y="5394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Movie Duration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869680" y="393192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869680" y="4709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5.1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8869680" y="5394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TV Seasons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Catalog Analytics — Dashboard Layout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Directors &amp; Data Quality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235440" y="2926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Slicers: Country • Type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6858000" cy="5257800"/>
          </a:xfrm>
          <a:prstGeom prst="roundRect">
            <a:avLst>
              <a:gd name="adj" fmla="val 104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Directors by Title Count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508760"/>
          <a:ext cx="64922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452360" y="1051560"/>
            <a:ext cx="4389120" cy="2514600"/>
          </a:xfrm>
          <a:prstGeom prst="roundRect">
            <a:avLst>
              <a:gd name="adj" fmla="val 2182"/>
            </a:avLst>
          </a:prstGeom>
          <a:solidFill>
            <a:srgbClr val="14141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DIRECTORS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52360" y="16002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7680960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directors on record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52360" y="3794760"/>
            <a:ext cx="4389120" cy="2514600"/>
          </a:xfrm>
          <a:prstGeom prst="roundRect">
            <a:avLst>
              <a:gd name="adj" fmla="val 2182"/>
            </a:avLst>
          </a:prstGeom>
          <a:solidFill>
            <a:srgbClr val="E50914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0" y="4023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DIRECTOR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452360" y="43434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5.3%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7680960" y="5257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titles have no director listed — flag for content-ops review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Catalog Analytics — Dashboard Layout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Recommended Page Order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8412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viewer moves through the report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4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2514600" cy="3749040"/>
          </a:xfrm>
          <a:prstGeom prst="roundRect">
            <a:avLst>
              <a:gd name="adj" fmla="val 2909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5900" y="2103120"/>
            <a:ext cx="548640" cy="54864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9" name="Text 7"/>
          <p:cNvSpPr/>
          <p:nvPr/>
        </p:nvSpPr>
        <p:spPr>
          <a:xfrm>
            <a:off x="14859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here first — top-line KPIs and the type/decade/rating shape of the whole catalog.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338328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10128" y="1828800"/>
            <a:ext cx="2514600" cy="3749040"/>
          </a:xfrm>
          <a:prstGeom prst="roundRect">
            <a:avLst>
              <a:gd name="adj" fmla="val 2909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3108" y="2103120"/>
            <a:ext cx="548640" cy="54864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5" name="Text 13"/>
          <p:cNvSpPr/>
          <p:nvPr/>
        </p:nvSpPr>
        <p:spPr>
          <a:xfrm>
            <a:off x="429310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47288" y="28803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&amp; Audience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93008" y="35661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into who the content is for — rating mix and regional spread.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24728" y="338328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17336" y="1828800"/>
            <a:ext cx="2514600" cy="3749040"/>
          </a:xfrm>
          <a:prstGeom prst="roundRect">
            <a:avLst>
              <a:gd name="adj" fmla="val 2909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00316" y="2103120"/>
            <a:ext cx="548640" cy="54864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1" name="Text 19"/>
          <p:cNvSpPr/>
          <p:nvPr/>
        </p:nvSpPr>
        <p:spPr>
          <a:xfrm>
            <a:off x="710031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54496" y="28803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Analysis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00216" y="35661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format and runtime patterns across eras.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31936" y="338328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924544" y="1828800"/>
            <a:ext cx="2514600" cy="3749040"/>
          </a:xfrm>
          <a:prstGeom prst="roundRect">
            <a:avLst>
              <a:gd name="adj" fmla="val 2909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07524" y="2103120"/>
            <a:ext cx="548640" cy="54864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7" name="Text 25"/>
          <p:cNvSpPr/>
          <p:nvPr/>
        </p:nvSpPr>
        <p:spPr>
          <a:xfrm>
            <a:off x="990752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061704" y="28803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Directors &amp; Data Quality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107424" y="35661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on talent coverage and the data gaps that need follow-up.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Catalog Analytics — Dashboard Design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3291840" cy="329184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 Order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5727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netflix_catalog_data.xlsx into Power BI and confirm data types (Release Year as whole number, Duration as text).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4688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8 calculated columns first — several measures on slide 6 depend on Duration Minutes / Duration Seasons.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392424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36499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15 DAX measures grouped as shown: Volume &amp; Composition, then Duration, Trend &amp; Quality.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288536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26110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report pages in the order on the previous slide, applying the chart choices from the mapping table.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515721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Type, Country, Release Year and Rating as slicers on every page for cross-filtering.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2026-09-08T23:40:39Z</dcterms:created>
  <dcterms:modified xsi:type="dcterms:W3CDTF">2026-09-08T23:40:39Z</dcterms:modified>
</cp:coreProperties>
</file>